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5A4EA-5165-4CAC-872F-1492146701D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BDC5-AE6F-4322-B7CA-119FE18DA5C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tangle: Rounded Corners 5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</a:t>
            </a:r>
            <a:endParaRPr lang="en-IN" sz="50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:- Rutu Devkar</a:t>
            </a:r>
            <a:endParaRPr lang="en-IN" sz="28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  <p:sp>
        <p:nvSpPr>
          <p:cNvPr id="6" name="Rectangle: Rounded Corners 5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Introduction</a:t>
            </a:r>
            <a:endParaRPr lang="en-US" sz="3600" b="1" dirty="0"/>
          </a:p>
          <a:p>
            <a:endParaRPr lang="en-US" sz="3600" b="1" dirty="0"/>
          </a:p>
          <a:p>
            <a:r>
              <a:rPr lang="en-US" sz="2400" dirty="0"/>
              <a:t>-The </a:t>
            </a:r>
            <a:r>
              <a:rPr lang="en-US" sz="2400" b="1" dirty="0"/>
              <a:t>Student Result Management System</a:t>
            </a:r>
            <a:r>
              <a:rPr lang="en-US" sz="2400" dirty="0"/>
              <a:t> is designed to </a:t>
            </a:r>
            <a:r>
              <a:rPr lang="en-US" sz="2400" b="1" dirty="0"/>
              <a:t>store, manage, and analyze student academic records</a:t>
            </a:r>
            <a:r>
              <a:rPr lang="en-US" sz="2400" dirty="0"/>
              <a:t> using MySQL.</a:t>
            </a:r>
            <a:endParaRPr lang="en-US" sz="2400" dirty="0"/>
          </a:p>
          <a:p>
            <a:r>
              <a:rPr lang="en-US" sz="2400" dirty="0"/>
              <a:t>-It provides a </a:t>
            </a:r>
            <a:r>
              <a:rPr lang="en-US" sz="2400" b="1" dirty="0"/>
              <a:t>centralized database</a:t>
            </a:r>
            <a:r>
              <a:rPr lang="en-US" sz="2400" dirty="0"/>
              <a:t> for students, courses, and examination results.</a:t>
            </a:r>
            <a:endParaRPr lang="en-US" sz="2400" dirty="0"/>
          </a:p>
          <a:p>
            <a:r>
              <a:rPr lang="en-US" sz="2400" dirty="0"/>
              <a:t>-This system helps in </a:t>
            </a:r>
            <a:r>
              <a:rPr lang="en-US" sz="2400" b="1" dirty="0"/>
              <a:t>reducing manual errors</a:t>
            </a:r>
            <a:r>
              <a:rPr lang="en-US" sz="2400" dirty="0"/>
              <a:t>, improving </a:t>
            </a:r>
            <a:r>
              <a:rPr lang="en-US" sz="2400" b="1" dirty="0"/>
              <a:t>efficiency</a:t>
            </a:r>
            <a:r>
              <a:rPr lang="en-US" sz="2400" dirty="0"/>
              <a:t>, and making </a:t>
            </a:r>
            <a:r>
              <a:rPr lang="en-US" sz="2400" b="1" dirty="0"/>
              <a:t>result analysis easier</a:t>
            </a:r>
            <a:r>
              <a:rPr lang="en-US" sz="2400" dirty="0"/>
              <a:t>.</a:t>
            </a:r>
            <a:endParaRPr lang="en-US" sz="2400" dirty="0"/>
          </a:p>
          <a:p>
            <a:r>
              <a:rPr lang="en-US" sz="2400" dirty="0"/>
              <a:t>-Queries can be used to generate reports such as </a:t>
            </a:r>
            <a:r>
              <a:rPr lang="en-US" sz="2400" b="1" dirty="0"/>
              <a:t>top performers, pass/fail statistics, GPA calculation, and departmental analysis</a:t>
            </a:r>
            <a:r>
              <a:rPr lang="en-US" sz="2400" dirty="0"/>
              <a:t>.</a:t>
            </a:r>
            <a:endParaRPr lang="en-US" sz="2400" dirty="0"/>
          </a:p>
          <a:p>
            <a:r>
              <a:rPr lang="en-US" sz="2400" dirty="0"/>
              <a:t>-The project demonstrates how </a:t>
            </a:r>
            <a:r>
              <a:rPr lang="en-US" sz="2400" b="1" dirty="0"/>
              <a:t>databases can simplify real-life academic record management</a:t>
            </a:r>
            <a:r>
              <a:rPr lang="en-US" sz="2400" dirty="0"/>
              <a:t>.</a:t>
            </a:r>
            <a:endParaRPr lang="en-US" sz="2400" dirty="0"/>
          </a:p>
          <a:p>
            <a:pPr algn="ctr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IN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Rectangle: Rounded Corners 4"/>
          <p:cNvSpPr/>
          <p:nvPr/>
        </p:nvSpPr>
        <p:spPr>
          <a:xfrm>
            <a:off x="587829" y="587829"/>
            <a:ext cx="11049000" cy="60244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Key Insights Explanation</a:t>
            </a:r>
            <a:endParaRPr lang="en-US" sz="2400" b="1" dirty="0"/>
          </a:p>
          <a:p>
            <a:r>
              <a:rPr lang="en-US" b="1" dirty="0"/>
              <a:t>1. Efficient Data Retrieval</a:t>
            </a:r>
            <a:endParaRPr lang="en-US" b="1" dirty="0"/>
          </a:p>
          <a:p>
            <a:r>
              <a:rPr lang="en-US" dirty="0"/>
              <a:t>SQL queries are designed to fetch student results quickly.</a:t>
            </a:r>
            <a:endParaRPr lang="en-US" dirty="0"/>
          </a:p>
          <a:p>
            <a:r>
              <a:rPr lang="en-US" dirty="0"/>
              <a:t>Example: Retrieve </a:t>
            </a:r>
            <a:r>
              <a:rPr lang="en-US" b="1" dirty="0"/>
              <a:t>top 10 students by GPA</a:t>
            </a:r>
            <a:r>
              <a:rPr lang="en-US" dirty="0"/>
              <a:t> or </a:t>
            </a:r>
            <a:r>
              <a:rPr lang="en-US" b="1" dirty="0"/>
              <a:t>all failed students</a:t>
            </a:r>
            <a:r>
              <a:rPr lang="en-US" dirty="0"/>
              <a:t> instantly.</a:t>
            </a:r>
            <a:endParaRPr lang="en-US" dirty="0"/>
          </a:p>
          <a:p>
            <a:r>
              <a:rPr lang="en-US" dirty="0"/>
              <a:t>Ensures </a:t>
            </a:r>
            <a:r>
              <a:rPr lang="en-US" b="1" dirty="0"/>
              <a:t>faster access</a:t>
            </a:r>
            <a:r>
              <a:rPr lang="en-US" dirty="0"/>
              <a:t> for teachers and administrators.</a:t>
            </a:r>
            <a:endParaRPr lang="en-US" dirty="0"/>
          </a:p>
          <a:p>
            <a:r>
              <a:rPr lang="en-US" b="1" dirty="0"/>
              <a:t>2. Strong Relational Design</a:t>
            </a:r>
            <a:endParaRPr lang="en-US" b="1" dirty="0"/>
          </a:p>
          <a:p>
            <a:r>
              <a:rPr lang="en-US" dirty="0"/>
              <a:t>Database schema uses </a:t>
            </a:r>
            <a:r>
              <a:rPr lang="en-US" b="1" dirty="0"/>
              <a:t>Students, Courses, Results</a:t>
            </a:r>
            <a:r>
              <a:rPr lang="en-US" dirty="0"/>
              <a:t> tables with </a:t>
            </a:r>
            <a:r>
              <a:rPr lang="en-US" b="1" dirty="0"/>
              <a:t>primary &amp; foreign keys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Prevents duplication and maintains </a:t>
            </a:r>
            <a:r>
              <a:rPr lang="en-US" b="1" dirty="0"/>
              <a:t>referential integrity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Enables smooth </a:t>
            </a:r>
            <a:r>
              <a:rPr lang="en-US" b="1" dirty="0"/>
              <a:t>joins and relational queries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3. Real-World Query Accuracy</a:t>
            </a:r>
            <a:endParaRPr lang="en-US" b="1" dirty="0"/>
          </a:p>
          <a:p>
            <a:r>
              <a:rPr lang="en-US" dirty="0"/>
              <a:t>Queries simulate </a:t>
            </a:r>
            <a:r>
              <a:rPr lang="en-US" b="1" dirty="0"/>
              <a:t>practical academic operations</a:t>
            </a:r>
            <a:r>
              <a:rPr lang="en-US" dirty="0"/>
              <a:t> like:</a:t>
            </a:r>
            <a:endParaRPr lang="en-US" dirty="0"/>
          </a:p>
          <a:p>
            <a:pPr lvl="1"/>
            <a:r>
              <a:rPr lang="en-US" dirty="0"/>
              <a:t>Finding departmental toppers</a:t>
            </a:r>
            <a:endParaRPr lang="en-US" dirty="0"/>
          </a:p>
          <a:p>
            <a:pPr lvl="1"/>
            <a:r>
              <a:rPr lang="en-US" dirty="0"/>
              <a:t>Calculating pass/fail ratios</a:t>
            </a:r>
            <a:endParaRPr lang="en-US" dirty="0"/>
          </a:p>
          <a:p>
            <a:pPr lvl="1"/>
            <a:r>
              <a:rPr lang="en-US" dirty="0"/>
              <a:t>Generating transcripts</a:t>
            </a:r>
            <a:endParaRPr lang="en-US" dirty="0"/>
          </a:p>
          <a:p>
            <a:r>
              <a:rPr lang="en-US" dirty="0"/>
              <a:t>Ensures the system is </a:t>
            </a:r>
            <a:r>
              <a:rPr lang="en-US" b="1" dirty="0"/>
              <a:t>applicable in real academic scenarios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4. Data Integrity and Accuracy</a:t>
            </a:r>
            <a:endParaRPr lang="en-US" b="1" dirty="0"/>
          </a:p>
          <a:p>
            <a:r>
              <a:rPr lang="en-US" dirty="0"/>
              <a:t>Foreign keys ensure only </a:t>
            </a:r>
            <a:r>
              <a:rPr lang="en-US" b="1" dirty="0"/>
              <a:t>valid student/course IDs</a:t>
            </a:r>
            <a:r>
              <a:rPr lang="en-US" dirty="0"/>
              <a:t> can be inserted.</a:t>
            </a:r>
            <a:endParaRPr lang="en-US" dirty="0"/>
          </a:p>
          <a:p>
            <a:r>
              <a:rPr lang="en-US" dirty="0"/>
              <a:t>Prevents </a:t>
            </a:r>
            <a:r>
              <a:rPr lang="en-US" b="1" dirty="0"/>
              <a:t>inconsistent data</a:t>
            </a:r>
            <a:r>
              <a:rPr lang="en-US" dirty="0"/>
              <a:t> (e.g., marks without a valid student).</a:t>
            </a:r>
            <a:endParaRPr lang="en-US" dirty="0"/>
          </a:p>
          <a:p>
            <a:r>
              <a:rPr lang="en-US" dirty="0"/>
              <a:t>Maintains </a:t>
            </a:r>
            <a:r>
              <a:rPr lang="en-US" b="1" dirty="0"/>
              <a:t>accuracy and reliability</a:t>
            </a:r>
            <a:r>
              <a:rPr lang="en-US" dirty="0"/>
              <a:t> of records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229" y="816429"/>
            <a:ext cx="2394857" cy="3178628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Q1. </a:t>
            </a:r>
            <a:r>
              <a:rPr lang="en-IN" sz="3600" dirty="0"/>
              <a:t>Show all students.</a:t>
            </a:r>
            <a:endParaRPr lang="en-IN" sz="3600" dirty="0"/>
          </a:p>
          <a:p>
            <a:pPr algn="ctr"/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IN" sz="3600" dirty="0"/>
              <a:t> * 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IN" sz="3600" dirty="0"/>
              <a:t> Students;</a:t>
            </a:r>
            <a:endParaRPr lang="en-IN" sz="3600" dirty="0"/>
          </a:p>
          <a:p>
            <a:pPr algn="ctr"/>
            <a:endParaRPr lang="en-IN" sz="3600" dirty="0"/>
          </a:p>
          <a:p>
            <a:pPr algn="ctr"/>
            <a:endParaRPr lang="en-IN" sz="3600" dirty="0"/>
          </a:p>
          <a:p>
            <a:pPr algn="ctr"/>
            <a:endParaRPr lang="en-IN" sz="3600" dirty="0"/>
          </a:p>
          <a:p>
            <a:pPr algn="ctr"/>
            <a:endParaRPr lang="en-IN" sz="3600" dirty="0"/>
          </a:p>
          <a:p>
            <a:pPr algn="ctr"/>
            <a:endParaRPr lang="en-IN" sz="50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717" y="2890379"/>
            <a:ext cx="4334480" cy="3286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tangle: Rounded Corners 5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Q2. </a:t>
            </a:r>
            <a:r>
              <a:rPr lang="en-IN" sz="3600" dirty="0"/>
              <a:t>how all courses.</a:t>
            </a:r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Courses;</a:t>
            </a:r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39" y="3145224"/>
            <a:ext cx="3978990" cy="2915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Rectangle: Rounded Corners 5"/>
          <p:cNvSpPr/>
          <p:nvPr/>
        </p:nvSpPr>
        <p:spPr>
          <a:xfrm>
            <a:off x="990600" y="914399"/>
            <a:ext cx="10504714" cy="610688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</a:t>
            </a:r>
            <a:r>
              <a:rPr lang="en-IN" sz="5400" dirty="0"/>
              <a:t>Average Marks by Course</a:t>
            </a:r>
            <a:endParaRPr lang="en-IN" sz="5400" dirty="0"/>
          </a:p>
          <a:p>
            <a:pPr algn="ctr"/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SELECT </a:t>
            </a: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course_id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AVG(marks) AS </a:t>
            </a: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avg_marks</a:t>
            </a:r>
            <a:endParaRPr lang="en-US" sz="5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FROM Results</a:t>
            </a:r>
            <a:endParaRPr lang="en-US" sz="5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GROUP BY </a:t>
            </a:r>
            <a:r>
              <a:rPr lang="en-US" sz="5400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course_id</a:t>
            </a:r>
            <a:r>
              <a:rPr lang="en-US" sz="5400" dirty="0"/>
              <a:t>;</a:t>
            </a:r>
            <a:endParaRPr lang="en-IN" sz="5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686" y="3570514"/>
            <a:ext cx="2732313" cy="32707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Rectangle: Rounded Corners 7"/>
          <p:cNvSpPr/>
          <p:nvPr/>
        </p:nvSpPr>
        <p:spPr>
          <a:xfrm>
            <a:off x="729341" y="365125"/>
            <a:ext cx="10504714" cy="625338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Q4 Number of Students Per Department</a:t>
            </a:r>
            <a:endParaRPr lang="en-US" sz="3600" b="1" dirty="0"/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SELECT department, COUNT(*) AS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total_students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FROM Students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GROUP BY department;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endParaRPr lang="en-US" sz="5400" b="1" dirty="0"/>
          </a:p>
          <a:p>
            <a:pPr algn="just"/>
            <a:endParaRPr lang="en-US" sz="28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858" y="3766457"/>
            <a:ext cx="3234618" cy="2545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990600" y="914399"/>
            <a:ext cx="10504714" cy="5943601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 </a:t>
            </a:r>
            <a:r>
              <a:rPr lang="en-IN" sz="3200" dirty="0"/>
              <a:t>Average Marks by Department</a:t>
            </a:r>
            <a:endParaRPr lang="en-IN" sz="3200" dirty="0"/>
          </a:p>
          <a:p>
            <a:pPr algn="ctr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avg_marks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US" sz="32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32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771" y="4887654"/>
            <a:ext cx="3245515" cy="1970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990600" y="914399"/>
            <a:ext cx="10504714" cy="6030687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/>
              <a:t>Q1.Students Ordered by Name (Alphabetical List)</a:t>
            </a:r>
            <a:endParaRPr lang="en-US" sz="3200" dirty="0"/>
          </a:p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name, department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name ASC;</a:t>
            </a:r>
            <a:endParaRPr lang="en-US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127" y="3929742"/>
            <a:ext cx="3709873" cy="30153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400594" y="95795"/>
            <a:ext cx="11094720" cy="6762206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Q2.</a:t>
            </a:r>
            <a:r>
              <a:rPr lang="en-US" sz="3600" dirty="0"/>
              <a:t> Courses Ordered by Credits (Highest First)</a:t>
            </a:r>
            <a:endParaRPr lang="en-US" sz="3600" dirty="0"/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course_name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credits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Courses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credits DESC;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79" y="3665426"/>
            <a:ext cx="3254829" cy="2852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4980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/>
              <a:t>Q3.Students Sorted by Department then Name</a:t>
            </a:r>
            <a:endParaRPr lang="en-US" sz="5400" dirty="0"/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name, department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department ASC, name ASC;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42" y="3744686"/>
            <a:ext cx="2362201" cy="31804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5057"/>
            <a:ext cx="12192000" cy="7130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990600" y="365125"/>
            <a:ext cx="10504714" cy="649287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Q4.Students Ranked by Average Marks</a:t>
            </a:r>
            <a:endParaRPr lang="en-US" sz="3600" dirty="0"/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avg_marks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sz="3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avg_marks</a:t>
            </a:r>
            <a:r>
              <a:rPr 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IN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969" y="3516772"/>
            <a:ext cx="2419688" cy="32103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2" y="87086"/>
            <a:ext cx="11310257" cy="67506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Rectangle: Rounded Corners 10"/>
          <p:cNvSpPr/>
          <p:nvPr/>
        </p:nvSpPr>
        <p:spPr>
          <a:xfrm>
            <a:off x="957944" y="174171"/>
            <a:ext cx="10504714" cy="64443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Q1.Show Student Names with Their Courses and Marks</a:t>
            </a:r>
            <a:endParaRPr lang="en-US" sz="2800" dirty="0"/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s.name,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c.course_name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Courses c ON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r.course_id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c.course_id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5" y="4615543"/>
            <a:ext cx="3722914" cy="20682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59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Rectangle: Rounded Corners 7"/>
          <p:cNvSpPr/>
          <p:nvPr/>
        </p:nvSpPr>
        <p:spPr>
          <a:xfrm>
            <a:off x="990600" y="914399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Q2.</a:t>
            </a:r>
            <a:r>
              <a:rPr lang="en-US" sz="5400" dirty="0"/>
              <a:t> Show Students Who Failed in Any Course (marks &lt; 40)</a:t>
            </a:r>
            <a:endParaRPr lang="en-US" sz="5400" dirty="0"/>
          </a:p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s.name,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c.course_name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Courses c ON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r.course_id</a:t>
            </a: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32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c.course_id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5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5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IN" sz="5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40;</a:t>
            </a:r>
            <a:endParaRPr lang="en-IN" sz="50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171" y="5081581"/>
            <a:ext cx="2873829" cy="18743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57" y="0"/>
            <a:ext cx="11593286" cy="66884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838200" y="740228"/>
            <a:ext cx="10504714" cy="537754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Q3.</a:t>
            </a:r>
            <a:r>
              <a:rPr lang="en-US" sz="3600" dirty="0"/>
              <a:t> Show Total Marks of Each Student</a:t>
            </a:r>
            <a:endParaRPr lang="en-US" sz="3600" dirty="0"/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s.name, SUM(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total_marks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s.name;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7397" y="4147456"/>
            <a:ext cx="2784359" cy="24492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370"/>
            <a:ext cx="12192000" cy="71083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Rectangle: Rounded Corners 7"/>
          <p:cNvSpPr/>
          <p:nvPr/>
        </p:nvSpPr>
        <p:spPr>
          <a:xfrm>
            <a:off x="446313" y="365125"/>
            <a:ext cx="11495315" cy="612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Q4.</a:t>
            </a:r>
            <a:r>
              <a:rPr lang="en-US" sz="3600" b="1" dirty="0"/>
              <a:t> Show Average Marks Per Department</a:t>
            </a:r>
            <a:endParaRPr lang="en-US" sz="3600" b="1" dirty="0"/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AVG(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avg_marks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US" sz="36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s.department</a:t>
            </a:r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525" y="4397083"/>
            <a:ext cx="2591162" cy="20957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0370"/>
            <a:ext cx="12192000" cy="71083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435428" y="463096"/>
            <a:ext cx="11495315" cy="612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Q5.</a:t>
            </a:r>
            <a:r>
              <a:rPr lang="en-US" sz="2800" dirty="0"/>
              <a:t> Show Top Scorer in Each Course</a:t>
            </a:r>
            <a:endParaRPr lang="en-US" sz="2800" dirty="0"/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c.course_name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s.name,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Results r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Students s ON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r.student_id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s.student_id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Courses c ON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r.course_id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c.course_id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r.marks</a:t>
            </a:r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 MAX(r2.marks) 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Results r2 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WHERE r2.course_id = </a:t>
            </a:r>
            <a:r>
              <a:rPr lang="en-IN" sz="28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r.course_id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8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5771" y="3810000"/>
            <a:ext cx="3026229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348342" y="267154"/>
            <a:ext cx="11495315" cy="612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Conclusion</a:t>
            </a:r>
            <a:endParaRPr lang="en-US" sz="4000" b="1" dirty="0"/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The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Student Result Management System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helps in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storing, managing, and analyzing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student records easily.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Using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MySQL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we created a structured database with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Students, Courses, and Results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tables.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With the help of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SQL queries (GROUP BY, ORDER BY, JOIN, HAVING, etc.)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we can: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-Find toppers and weak students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-Analyze departmental performance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-Generate useful academic reports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The system improves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accuracy, speed, and decision-making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compared to manual methods.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* This project shows how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databases are important in real-world education systems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en-US" sz="2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/>
            <a:endParaRPr lang="en-IN" sz="50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348342" y="365125"/>
            <a:ext cx="11495315" cy="612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5"/>
          <p:cNvPicPr>
            <a:picLocks noChangeAspect="1"/>
          </p:cNvPicPr>
          <p:nvPr/>
        </p:nvPicPr>
        <p:blipFill>
          <a:blip r:embed="rId1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5" name="Rectangle: Rounded Corners 4"/>
          <p:cNvSpPr/>
          <p:nvPr/>
        </p:nvSpPr>
        <p:spPr>
          <a:xfrm>
            <a:off x="446313" y="365125"/>
            <a:ext cx="11495315" cy="612775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</a:t>
            </a:r>
            <a:endParaRPr lang="en-IN" sz="50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4002</Words>
  <Application>WPS Presentation</Application>
  <PresentationFormat>Widescreen</PresentationFormat>
  <Paragraphs>141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Devkar</dc:creator>
  <cp:lastModifiedBy>Rutu Devkar</cp:lastModifiedBy>
  <cp:revision>4</cp:revision>
  <dcterms:created xsi:type="dcterms:W3CDTF">2025-09-09T09:01:00Z</dcterms:created>
  <dcterms:modified xsi:type="dcterms:W3CDTF">2026-01-29T06:44:07Z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BA69CE2E297F412A815DB5D161E8E485_12</vt:lpwstr>
  </property>
  <property fmtid="{D5CDD505-2E9C-101B-9397-08002B2CF9AE}" pid="3" name="KSOProductBuildVer">
    <vt:lpwstr>1033-12.2.0.23196</vt:lpwstr>
  </property>
</Properties>
</file>